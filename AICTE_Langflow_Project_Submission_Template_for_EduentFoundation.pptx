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a:t>
            </a:r>
            <a:r>
              <a:rPr lang="en-IN" b="1" dirty="0"/>
              <a:t>AI-Powered Technical Interview Trainer</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50788116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dirty="0"/>
                        <a:t>MENAKA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menakasarvanan30@gmail.com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9025391806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Education / Career Development / Information Technology</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b="1" dirty="0">
                <a:highlight>
                  <a:srgbClr val="FFFF00"/>
                </a:highlight>
              </a:rPr>
              <a:t>AI-Powered Technical Interview Trainer</a:t>
            </a:r>
            <a:r>
              <a:rPr lang="en-IN" sz="2400" b="1" dirty="0"/>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4219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673AACF2-D0D4-7209-4018-9398D984275B}"/>
              </a:ext>
            </a:extLst>
          </p:cNvPr>
          <p:cNvPicPr>
            <a:picLocks noChangeAspect="1"/>
          </p:cNvPicPr>
          <p:nvPr/>
        </p:nvPicPr>
        <p:blipFill>
          <a:blip r:embed="rId3"/>
          <a:stretch>
            <a:fillRect/>
          </a:stretch>
        </p:blipFill>
        <p:spPr>
          <a:xfrm>
            <a:off x="4298731" y="3680918"/>
            <a:ext cx="756745" cy="10076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r>
              <a:rPr lang="en-IN" b="1" dirty="0"/>
              <a:t>Problem Statement : AI Interview Trainer</a:t>
            </a:r>
          </a:p>
          <a:p>
            <a:endParaRPr lang="en-IN" dirty="0"/>
          </a:p>
          <a:p>
            <a:r>
              <a:rPr lang="en-IN" b="1" dirty="0"/>
              <a:t>The Challenge</a:t>
            </a:r>
            <a:r>
              <a:rPr lang="en-IN" dirty="0"/>
              <a:t> Preparing for technical interviews can be stressful, and candidates often struggle with </a:t>
            </a:r>
            <a:r>
              <a:rPr lang="en-IN" b="1" dirty="0"/>
              <a:t>lack of realistic practice, unstructured feedback, and managing multi-turn interview interactions</a:t>
            </a:r>
            <a:r>
              <a:rPr lang="en-IN" dirty="0"/>
              <a:t>. Information about technical questions and standard answers is scattered across unreliable sources. Without </a:t>
            </a:r>
            <a:r>
              <a:rPr lang="en-IN" b="1" dirty="0"/>
              <a:t>personalized, real-time guidance and realistic simulation</a:t>
            </a:r>
            <a:r>
              <a:rPr lang="en-IN" dirty="0"/>
              <a:t>, many fail to build confidence or clear technical rounds.</a:t>
            </a:r>
          </a:p>
          <a:p>
            <a:r>
              <a:rPr lang="en-IN" b="1" dirty="0"/>
              <a:t>The Objective</a:t>
            </a:r>
          </a:p>
          <a:p>
            <a:r>
              <a:rPr lang="en-IN" dirty="0"/>
              <a:t> Build an </a:t>
            </a:r>
            <a:r>
              <a:rPr lang="en-IN" b="1" dirty="0"/>
              <a:t>AI-Powered Technical Interview Trainer</a:t>
            </a:r>
            <a:r>
              <a:rPr lang="en-IN" dirty="0"/>
              <a:t> that delivers </a:t>
            </a:r>
            <a:r>
              <a:rPr lang="en-IN" b="1" dirty="0"/>
              <a:t>personalized and interactive interview simulations</a:t>
            </a:r>
            <a:r>
              <a:rPr lang="en-IN" dirty="0"/>
              <a:t> for students, job seekers, and professionals. The solution should:</a:t>
            </a:r>
          </a:p>
          <a:p>
            <a:pPr lvl="0"/>
            <a:r>
              <a:rPr lang="en-IN" b="1" dirty="0"/>
              <a:t>Role-Based Customization</a:t>
            </a:r>
            <a:r>
              <a:rPr lang="en-IN" dirty="0"/>
              <a:t> – Tailor interview questions based on specific job roles (e.g., Software Engineer, Data Scientist) and skill levels.</a:t>
            </a:r>
          </a:p>
          <a:p>
            <a:pPr lvl="0"/>
            <a:r>
              <a:rPr lang="en-IN" b="1" dirty="0"/>
              <a:t>Contextual RAG &amp; Prompting</a:t>
            </a:r>
            <a:r>
              <a:rPr lang="en-IN" dirty="0"/>
              <a:t> – Enforce strict system instructions and prompt engineering to keep the AI acting as a professional interviewer.</a:t>
            </a:r>
          </a:p>
          <a:p>
            <a:pPr lvl="0"/>
            <a:r>
              <a:rPr lang="en-IN" b="1" dirty="0"/>
              <a:t>Multi-Turn Interaction</a:t>
            </a:r>
            <a:r>
              <a:rPr lang="en-IN" dirty="0"/>
              <a:t> – Allow users to answer questions step-by-step, receiving follow-up queries dynamically just like a real interview.</a:t>
            </a:r>
          </a:p>
          <a:p>
            <a:pPr lvl="0"/>
            <a:r>
              <a:rPr lang="en-IN" b="1" dirty="0"/>
              <a:t>Backend-Frontend Integration</a:t>
            </a:r>
            <a:r>
              <a:rPr lang="en-IN" dirty="0"/>
              <a:t> – Establish seamless JSON communication between a responsive web UI and enterprise-grade AI foundation models.</a:t>
            </a:r>
          </a:p>
          <a:p>
            <a:pPr lvl="0"/>
            <a:r>
              <a:rPr lang="en-IN" b="1" dirty="0"/>
              <a:t>IBM Watsonx.ai Integration</a:t>
            </a:r>
            <a:r>
              <a:rPr lang="en-IN" dirty="0"/>
              <a:t> – Leverage advanced LLMs (like Mistral-small) via cloud SDKs for fast, intelligent, and accurate responses.</a:t>
            </a:r>
          </a:p>
          <a:p>
            <a:pPr lvl="0"/>
            <a:r>
              <a:rPr lang="en-IN" b="1" dirty="0"/>
              <a:t>Performance Tracking &amp; Feedback</a:t>
            </a:r>
            <a:r>
              <a:rPr lang="en-IN" dirty="0"/>
              <a:t> – Provide interactive chat logs and immediate conversational feedback to improve candidate readiness.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32034" y="1165753"/>
            <a:ext cx="10607040" cy="4832092"/>
          </a:xfrm>
          <a:prstGeom prst="rect">
            <a:avLst/>
          </a:prstGeom>
          <a:noFill/>
        </p:spPr>
        <p:txBody>
          <a:bodyPr wrap="square" rtlCol="0">
            <a:spAutoFit/>
          </a:bodyPr>
          <a:lstStyle/>
          <a:p>
            <a:r>
              <a:rPr lang="en-IN" b="1" dirty="0"/>
              <a:t>Proposed Solution: AI-Powered Technical Interview Trainer</a:t>
            </a:r>
            <a:r>
              <a:rPr lang="en-IN" dirty="0"/>
              <a:t> </a:t>
            </a:r>
          </a:p>
          <a:p>
            <a:endParaRPr lang="en-IN" dirty="0"/>
          </a:p>
          <a:p>
            <a:pPr marL="285750" indent="-285750">
              <a:buFont typeface="Arial" panose="020B0604020202020204" pitchFamily="34" charset="0"/>
              <a:buChar char="•"/>
            </a:pPr>
            <a:r>
              <a:rPr lang="en-IN" dirty="0"/>
              <a:t>The proposed solution is an </a:t>
            </a:r>
            <a:r>
              <a:rPr lang="en-IN" b="1" dirty="0"/>
              <a:t>AI-powered Technical Interview Trainer</a:t>
            </a:r>
            <a:r>
              <a:rPr lang="en-IN" dirty="0"/>
              <a:t> built using </a:t>
            </a:r>
            <a:r>
              <a:rPr lang="en-IN" b="1" dirty="0"/>
              <a:t>Python (Flask), JavaScript, and IBM watsonx.ai</a:t>
            </a:r>
            <a:r>
              <a:rPr lang="en-IN" dirty="0"/>
              <a:t> to provide personalized, real-time mock interview sessions. The system addresses challenges in technical preparation, skill assessment, and realistic interview simulation through an intelligent, modular architecture.</a:t>
            </a:r>
          </a:p>
          <a:p>
            <a:pPr marL="285750" indent="-285750">
              <a:buFont typeface="Arial" panose="020B0604020202020204" pitchFamily="34" charset="0"/>
              <a:buChar char="•"/>
            </a:pPr>
            <a:r>
              <a:rPr lang="en-IN" dirty="0"/>
              <a:t>At its core, the solution uses </a:t>
            </a:r>
            <a:r>
              <a:rPr lang="en-IN" b="1" dirty="0"/>
              <a:t>system prompt engineering and role-based instruction tuning</a:t>
            </a:r>
            <a:r>
              <a:rPr lang="en-IN" dirty="0"/>
              <a:t> to maintain a professional, step-by-step interviewer persona. This ensures the model dynamically adapts to user responses rather than acting as a generic text generator.</a:t>
            </a:r>
          </a:p>
          <a:p>
            <a:endParaRPr lang="en-IN" dirty="0"/>
          </a:p>
          <a:p>
            <a:r>
              <a:rPr lang="en-IN" dirty="0"/>
              <a:t>The system consists of four key components:</a:t>
            </a:r>
          </a:p>
          <a:p>
            <a:pPr marL="285750" lvl="0" indent="-285750">
              <a:buFont typeface="Arial" panose="020B0604020202020204" pitchFamily="34" charset="0"/>
              <a:buChar char="•"/>
            </a:pPr>
            <a:r>
              <a:rPr lang="en-IN" b="1" dirty="0"/>
              <a:t>Interview Controller Agent</a:t>
            </a:r>
            <a:r>
              <a:rPr lang="en-IN" dirty="0"/>
              <a:t> manages the conversational state and dictates multi-turn interview flow.</a:t>
            </a:r>
          </a:p>
          <a:p>
            <a:pPr marL="285750" lvl="0" indent="-285750">
              <a:buFont typeface="Arial" panose="020B0604020202020204" pitchFamily="34" charset="0"/>
              <a:buChar char="•"/>
            </a:pPr>
            <a:r>
              <a:rPr lang="en-IN" b="1" dirty="0"/>
              <a:t>Role Customization Module</a:t>
            </a:r>
            <a:r>
              <a:rPr lang="en-IN" dirty="0"/>
              <a:t> generates targeted technical questions based on specific job roles and user inputs.</a:t>
            </a:r>
          </a:p>
          <a:p>
            <a:pPr marL="285750" lvl="0" indent="-285750">
              <a:buFont typeface="Arial" panose="020B0604020202020204" pitchFamily="34" charset="0"/>
              <a:buChar char="•"/>
            </a:pPr>
            <a:r>
              <a:rPr lang="en-IN" b="1" dirty="0"/>
              <a:t>Evaluation &amp; Feedback Handler</a:t>
            </a:r>
            <a:r>
              <a:rPr lang="en-IN" dirty="0"/>
              <a:t> processes user answers and delivers contextual, real-time follow-up queries.</a:t>
            </a:r>
          </a:p>
          <a:p>
            <a:pPr marL="285750" lvl="0" indent="-285750">
              <a:buFont typeface="Arial" panose="020B0604020202020204" pitchFamily="34" charset="0"/>
              <a:buChar char="•"/>
            </a:pPr>
            <a:r>
              <a:rPr lang="en-IN" b="1" dirty="0"/>
              <a:t>JSON Communication Bridge</a:t>
            </a:r>
            <a:r>
              <a:rPr lang="en-IN" dirty="0"/>
              <a:t> handles seamless data exchange between the backend routing logic and the frontend user interface.</a:t>
            </a:r>
          </a:p>
          <a:p>
            <a:pPr marL="285750" indent="-285750">
              <a:buFont typeface="Arial" panose="020B0604020202020204" pitchFamily="34" charset="0"/>
              <a:buChar char="•"/>
            </a:pPr>
            <a:r>
              <a:rPr lang="en-IN" dirty="0"/>
              <a:t>The solution includes a </a:t>
            </a:r>
            <a:r>
              <a:rPr lang="en-IN" b="1" dirty="0"/>
              <a:t>user-friendly dashboard</a:t>
            </a:r>
            <a:r>
              <a:rPr lang="en-IN" dirty="0"/>
              <a:t> (built with HTML, CSS, and JavaScript) that renders chat interactions, manages dynamic loading states, and provides a smooth conversational experience.</a:t>
            </a:r>
          </a:p>
          <a:p>
            <a:pPr marL="285750" indent="-285750">
              <a:buFont typeface="Arial" panose="020B0604020202020204" pitchFamily="34" charset="0"/>
              <a:buChar char="•"/>
            </a:pPr>
            <a:r>
              <a:rPr lang="en-IN" b="1" dirty="0"/>
              <a:t>IBM watsonx.ai</a:t>
            </a:r>
            <a:r>
              <a:rPr lang="en-IN" dirty="0"/>
              <a:t> is used to ensure scalable model deployment, robust prompt execution, and AI governance, while Mistral models power conversational reasoning and response generation.</a:t>
            </a:r>
          </a:p>
          <a:p>
            <a:pPr marL="285750" indent="-285750">
              <a:buFont typeface="Arial" panose="020B0604020202020204" pitchFamily="34" charset="0"/>
              <a:buChar char="•"/>
            </a:pPr>
            <a:r>
              <a:rPr lang="en-IN" dirty="0"/>
              <a:t>Overall, this solution delivers an </a:t>
            </a:r>
            <a:r>
              <a:rPr lang="en-IN" b="1" dirty="0"/>
              <a:t>end-to-end intelligent interview assistant</a:t>
            </a:r>
            <a:r>
              <a:rPr lang="en-IN" dirty="0"/>
              <a:t> that promotes candidate readiness through realistic practice, structured role-based queries, and dynamic interaction.</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539430"/>
          </a:xfrm>
          <a:prstGeom prst="rect">
            <a:avLst/>
          </a:prstGeom>
          <a:noFill/>
        </p:spPr>
        <p:txBody>
          <a:bodyPr wrap="square" rtlCol="0">
            <a:spAutoFit/>
          </a:bodyPr>
          <a:lstStyle/>
          <a:p>
            <a:pPr marL="285750" lvl="0" indent="-285750">
              <a:buFont typeface="Arial" panose="020B0604020202020204" pitchFamily="34" charset="0"/>
              <a:buChar char="•"/>
            </a:pPr>
            <a:r>
              <a:rPr lang="en-IN" b="1" dirty="0"/>
              <a:t>Python &amp; Flask Framework</a:t>
            </a:r>
            <a:r>
              <a:rPr lang="en-IN" dirty="0"/>
              <a:t> – For building robust backend routing logic, managing API endpoints, and handling server-side requests.</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IBM Watsonx.ai</a:t>
            </a:r>
            <a:r>
              <a:rPr lang="en-IN" dirty="0"/>
              <a:t> – For model deployment, foundation model inference, prompt execution, and AI governance.</a:t>
            </a:r>
          </a:p>
          <a:p>
            <a:pPr marL="285750" lvl="0" indent="-285750">
              <a:buFont typeface="Arial" panose="020B0604020202020204" pitchFamily="34" charset="0"/>
              <a:buChar char="•"/>
            </a:pPr>
            <a:r>
              <a:rPr lang="en-IN" b="1" dirty="0"/>
              <a:t>Mistral Model (mistral-small-3-1-24b-instruct-2503)</a:t>
            </a:r>
            <a:r>
              <a:rPr lang="en-IN" dirty="0"/>
              <a:t> – For natural language understanding, conversational reasoning, and role-based persona execution.</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IBM Cloud</a:t>
            </a:r>
            <a:r>
              <a:rPr lang="en-IN" dirty="0"/>
              <a:t> – It provides the infrastructure to build, deploy, and scale the application efficiently, ensuring a reliable, secure, and scalable environment.</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RAG-based Prompt Engineering</a:t>
            </a:r>
            <a:r>
              <a:rPr lang="en-IN" dirty="0"/>
              <a:t> – To fetch contextual instructions first, then generate intelligent and structured interviewer responses, making the training session more trustworthy and effective.</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HTML5, CSS3, &amp; JavaScript (Fetch API)</a:t>
            </a:r>
            <a:r>
              <a:rPr lang="en-IN" dirty="0"/>
              <a:t> – For designing a clean, responsive frontend user interface and handling asynchronous client-server communication seamlessly.</a:t>
            </a:r>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3970318"/>
          </a:xfrm>
          <a:prstGeom prst="rect">
            <a:avLst/>
          </a:prstGeom>
          <a:noFill/>
        </p:spPr>
        <p:txBody>
          <a:bodyPr wrap="square" rtlCol="0">
            <a:spAutoFit/>
          </a:bodyPr>
          <a:lstStyle/>
          <a:p>
            <a:pPr marL="342900" indent="-342900">
              <a:buAutoNum type="arabicParenR"/>
            </a:pPr>
            <a:r>
              <a:rPr lang="en-IN" b="1" dirty="0"/>
              <a:t>Chat Input</a:t>
            </a:r>
            <a:r>
              <a:rPr lang="en-IN" dirty="0"/>
              <a:t> – Interface where candidates enter their job role preferences and answers during the mock interview session.</a:t>
            </a:r>
          </a:p>
          <a:p>
            <a:pPr marL="342900" indent="-342900">
              <a:buAutoNum type="arabicParenR"/>
            </a:pPr>
            <a:endParaRPr lang="en-IN" dirty="0"/>
          </a:p>
          <a:p>
            <a:r>
              <a:rPr lang="en-IN" b="1" dirty="0"/>
              <a:t>2) IBM watsonx.ai Agent</a:t>
            </a:r>
            <a:r>
              <a:rPr lang="en-IN" dirty="0"/>
              <a:t> – Processes user input using Mistral/Foundation models with strict system prompt instructions to maintain a professional interviewer persona.</a:t>
            </a:r>
          </a:p>
          <a:p>
            <a:endParaRPr lang="en-IN" dirty="0"/>
          </a:p>
          <a:p>
            <a:r>
              <a:rPr lang="en-IN" b="1" dirty="0"/>
              <a:t>3) Name of IBM Model</a:t>
            </a:r>
            <a:r>
              <a:rPr lang="en-IN" dirty="0"/>
              <a:t> – </a:t>
            </a:r>
            <a:r>
              <a:rPr lang="en-IN" dirty="0" err="1"/>
              <a:t>mistralai</a:t>
            </a:r>
            <a:r>
              <a:rPr lang="en-IN" dirty="0"/>
              <a:t>/mistral-small-3-1-24b-instruct-2503 → Fast, efficient, and context-aware for real-time technical interview dialogues.</a:t>
            </a:r>
          </a:p>
          <a:p>
            <a:endParaRPr lang="en-IN" dirty="0"/>
          </a:p>
          <a:p>
            <a:r>
              <a:rPr lang="en-IN" b="1" dirty="0"/>
              <a:t>4) Chat Output</a:t>
            </a:r>
            <a:r>
              <a:rPr lang="en-IN" dirty="0"/>
              <a:t> – Displays AI-generated responses such as follow-up technical questions, evaluations, and interactive feedback.</a:t>
            </a:r>
          </a:p>
          <a:p>
            <a:endParaRPr lang="en-IN" dirty="0"/>
          </a:p>
          <a:p>
            <a:r>
              <a:rPr lang="en-IN" b="1" dirty="0"/>
              <a:t>5) Flask Backend &amp; JSON Router</a:t>
            </a:r>
            <a:r>
              <a:rPr lang="en-IN" dirty="0"/>
              <a:t> – Manages server-side routing logic and secures asynchronous JSON data communication between the UI and AI layer.</a:t>
            </a:r>
          </a:p>
          <a:p>
            <a:endParaRPr lang="en-IN" dirty="0"/>
          </a:p>
          <a:p>
            <a:r>
              <a:rPr lang="en-IN" b="1" dirty="0"/>
              <a:t>6) Frontend UI Interface</a:t>
            </a:r>
            <a:r>
              <a:rPr lang="en-IN" dirty="0"/>
              <a:t> – HTML, CSS, and JavaScript-based chat window that handles user interaction, loading states, and dynamic message rendering.</a:t>
            </a:r>
          </a:p>
          <a:p>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7" name="Picture 6">
            <a:extLst>
              <a:ext uri="{FF2B5EF4-FFF2-40B4-BE49-F238E27FC236}">
                <a16:creationId xmlns:a16="http://schemas.microsoft.com/office/drawing/2014/main" id="{D6AAED36-DA30-D9A4-9229-94393616707A}"/>
              </a:ext>
            </a:extLst>
          </p:cNvPr>
          <p:cNvPicPr>
            <a:picLocks noChangeAspect="1"/>
          </p:cNvPicPr>
          <p:nvPr/>
        </p:nvPicPr>
        <p:blipFill>
          <a:blip r:embed="rId3"/>
          <a:stretch>
            <a:fillRect/>
          </a:stretch>
        </p:blipFill>
        <p:spPr>
          <a:xfrm>
            <a:off x="902396" y="1169276"/>
            <a:ext cx="9134983" cy="50542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5" name="Picture 4">
            <a:extLst>
              <a:ext uri="{FF2B5EF4-FFF2-40B4-BE49-F238E27FC236}">
                <a16:creationId xmlns:a16="http://schemas.microsoft.com/office/drawing/2014/main" id="{649995B1-987D-4455-AAF2-852661DDC7A0}"/>
              </a:ext>
            </a:extLst>
          </p:cNvPr>
          <p:cNvPicPr>
            <a:picLocks noChangeAspect="1"/>
          </p:cNvPicPr>
          <p:nvPr/>
        </p:nvPicPr>
        <p:blipFill>
          <a:blip r:embed="rId3"/>
          <a:stretch>
            <a:fillRect/>
          </a:stretch>
        </p:blipFill>
        <p:spPr>
          <a:xfrm>
            <a:off x="1616258" y="1110007"/>
            <a:ext cx="8810003" cy="52889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IN" b="1" dirty="0"/>
              <a:t>Role of Agentic AI in Technical Interview Trainer</a:t>
            </a:r>
          </a:p>
          <a:p>
            <a:r>
              <a:rPr lang="en-IN" dirty="0"/>
              <a:t> Agentic AI enables the Interview Trainer to function as an intelligent, autonomous system rather than a simple static chatbot. Using </a:t>
            </a:r>
            <a:r>
              <a:rPr lang="en-IN" b="1" dirty="0"/>
              <a:t>IBM watsonx.ai and Mistral models</a:t>
            </a:r>
            <a:r>
              <a:rPr lang="en-IN" dirty="0"/>
              <a:t>, it coordinates multiple specialized tasks to deliver personalized interview simulation and evaluation.</a:t>
            </a:r>
          </a:p>
          <a:p>
            <a:endParaRPr lang="en-IN" dirty="0"/>
          </a:p>
          <a:p>
            <a:r>
              <a:rPr lang="en-IN" dirty="0"/>
              <a:t>Each component performs a specific role—such as managing interview state, generating targeted technical questions, evaluating candidate responses, and delivering actionable feedback—while working collaboratively. This systematic approach ensures efficient workflow execution and precise assessment results.</a:t>
            </a:r>
          </a:p>
          <a:p>
            <a:endParaRPr lang="en-IN" dirty="0"/>
          </a:p>
          <a:p>
            <a:r>
              <a:rPr lang="en-IN" dirty="0"/>
              <a:t>Agentic AI also brings </a:t>
            </a:r>
            <a:r>
              <a:rPr lang="en-IN" b="1" dirty="0"/>
              <a:t>context awareness</a:t>
            </a:r>
            <a:r>
              <a:rPr lang="en-IN" dirty="0"/>
              <a:t>, understanding user details like target job roles, skill levels, and previous answers to generate tailored follow-up queries. It supports </a:t>
            </a:r>
            <a:r>
              <a:rPr lang="en-IN" b="1" dirty="0"/>
              <a:t>real-time adaptation</a:t>
            </a:r>
            <a:r>
              <a:rPr lang="en-IN" dirty="0"/>
              <a:t>, continuously adjusting question complexity based on user performance. Additionally, the system maintains conversational continuity, enabling better candidate profiling and improved interview readiness.</a:t>
            </a:r>
          </a:p>
          <a:p>
            <a:endParaRPr lang="en-IN" dirty="0"/>
          </a:p>
          <a:p>
            <a:r>
              <a:rPr lang="en-IN" dirty="0"/>
              <a:t>Overall, Agentic AI makes the system proactive, personalized, and goal-driven, acting like a </a:t>
            </a:r>
            <a:r>
              <a:rPr lang="en-IN" b="1" dirty="0"/>
              <a:t>smart digital technical interviewer</a:t>
            </a:r>
            <a:r>
              <a:rPr lang="en-IN" dirty="0"/>
              <a:t> that helps candidates build confidence and master technical interviews.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32092"/>
          </a:xfrm>
          <a:prstGeom prst="rect">
            <a:avLst/>
          </a:prstGeom>
          <a:noFill/>
        </p:spPr>
        <p:txBody>
          <a:bodyPr wrap="square" rtlCol="0">
            <a:spAutoFit/>
          </a:bodyPr>
          <a:lstStyle/>
          <a:p>
            <a:r>
              <a:rPr lang="en-IN" dirty="0"/>
              <a:t>The proposed </a:t>
            </a:r>
            <a:r>
              <a:rPr lang="en-IN" b="1" dirty="0"/>
              <a:t>Technical Interview Trainer</a:t>
            </a:r>
            <a:r>
              <a:rPr lang="en-IN" dirty="0"/>
              <a:t> stands out by combining </a:t>
            </a:r>
            <a:r>
              <a:rPr lang="en-IN" b="1" dirty="0"/>
              <a:t>Agentic AI, structured prompt engineering, and real-time adaptability</a:t>
            </a:r>
            <a:r>
              <a:rPr lang="en-IN" dirty="0"/>
              <a:t> into a single intelligent system.</a:t>
            </a:r>
          </a:p>
          <a:p>
            <a:endParaRPr lang="en-IN" dirty="0"/>
          </a:p>
          <a:p>
            <a:pPr lvl="0"/>
            <a:r>
              <a:rPr lang="en-IN" b="1" dirty="0"/>
              <a:t>Multi-Turn Role Adaptation</a:t>
            </a:r>
            <a:r>
              <a:rPr lang="en-IN" dirty="0"/>
              <a:t> – Instead of a single static chatbot, it dynamically adjusts its questioning strategy based on the candidate's performance and target job roles.</a:t>
            </a:r>
          </a:p>
          <a:p>
            <a:pPr lvl="0"/>
            <a:endParaRPr lang="en-IN" dirty="0"/>
          </a:p>
          <a:p>
            <a:pPr lvl="0"/>
            <a:r>
              <a:rPr lang="en-IN" b="1" dirty="0"/>
              <a:t>Prompt-Driven Accuracy</a:t>
            </a:r>
            <a:r>
              <a:rPr lang="en-IN" dirty="0"/>
              <a:t> – Integrates strict system instructions with foundation model generation, reducing generalized responses and ensuring focused technical assessments.</a:t>
            </a:r>
          </a:p>
          <a:p>
            <a:pPr lvl="0"/>
            <a:endParaRPr lang="en-IN" dirty="0"/>
          </a:p>
          <a:p>
            <a:pPr lvl="0"/>
            <a:r>
              <a:rPr lang="en-IN" b="1" dirty="0"/>
              <a:t>Hyper-Personalization</a:t>
            </a:r>
            <a:r>
              <a:rPr lang="en-IN" dirty="0"/>
              <a:t> – Tailors mock interview sessions based on specific programming languages, frameworks, and candidate experience levels.</a:t>
            </a:r>
          </a:p>
          <a:p>
            <a:pPr lvl="0"/>
            <a:endParaRPr lang="en-IN" dirty="0"/>
          </a:p>
          <a:p>
            <a:pPr lvl="0"/>
            <a:r>
              <a:rPr lang="en-IN" b="1" dirty="0"/>
              <a:t>Real-Time Feedback Loop</a:t>
            </a:r>
            <a:r>
              <a:rPr lang="en-IN" dirty="0"/>
              <a:t> – Continuously </a:t>
            </a:r>
            <a:r>
              <a:rPr lang="en-IN" dirty="0" err="1"/>
              <a:t>analyzes</a:t>
            </a:r>
            <a:r>
              <a:rPr lang="en-IN" dirty="0"/>
              <a:t> candidate answers to provide targeted explanations, follow-up questions, and performance evaluations.</a:t>
            </a:r>
          </a:p>
          <a:p>
            <a:pPr lvl="0"/>
            <a:endParaRPr lang="en-IN" dirty="0"/>
          </a:p>
          <a:p>
            <a:pPr lvl="0"/>
            <a:r>
              <a:rPr lang="en-IN" b="1" dirty="0"/>
              <a:t>Interactive UI Interface</a:t>
            </a:r>
            <a:r>
              <a:rPr lang="en-IN" dirty="0"/>
              <a:t> – Supports a clean, responsive chat experience designed for seamless technical engagement.</a:t>
            </a:r>
          </a:p>
          <a:p>
            <a:pPr lvl="0"/>
            <a:endParaRPr lang="en-IN" dirty="0"/>
          </a:p>
          <a:p>
            <a:pPr lvl="0"/>
            <a:r>
              <a:rPr lang="en-IN" b="1" dirty="0"/>
              <a:t>Career Readiness Focus</a:t>
            </a:r>
            <a:r>
              <a:rPr lang="en-IN" dirty="0"/>
              <a:t> – Goes beyond standard Q&amp;A platforms to simulate real-world technical screening and build candidate confidence</a:t>
            </a:r>
          </a:p>
          <a:p>
            <a:pPr lvl="0"/>
            <a:r>
              <a:rPr lang="en-IN" dirty="0"/>
              <a:t>.</a:t>
            </a:r>
          </a:p>
          <a:p>
            <a:pPr lvl="0"/>
            <a:r>
              <a:rPr lang="en-IN" b="1" dirty="0"/>
              <a:t>Scalable &amp; Enterprise-Ready</a:t>
            </a:r>
            <a:r>
              <a:rPr lang="en-IN" dirty="0"/>
              <a:t> – Built on </a:t>
            </a:r>
            <a:r>
              <a:rPr lang="en-IN" b="1" dirty="0"/>
              <a:t>IBM watsonx.ai</a:t>
            </a:r>
            <a:r>
              <a:rPr lang="en-IN" dirty="0"/>
              <a:t> with </a:t>
            </a:r>
            <a:r>
              <a:rPr lang="en-IN" b="1" dirty="0"/>
              <a:t>Mistral models</a:t>
            </a:r>
            <a:r>
              <a:rPr lang="en-IN" dirty="0"/>
              <a:t>, ensuring reliability, security, and enterprise AI governance.</a:t>
            </a:r>
          </a:p>
          <a:p>
            <a:r>
              <a:rPr lang="en-IN" dirty="0"/>
              <a:t>This makes the solution a </a:t>
            </a:r>
            <a:r>
              <a:rPr lang="en-IN" b="1" dirty="0"/>
              <a:t>smart, adaptive, and proactive technical interviewer</a:t>
            </a:r>
            <a:r>
              <a:rPr lang="en-IN" dirty="0"/>
              <a:t>, not just a static question bank tool.</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–https://github.com/MenakaSaravanan/IntelliMock-AI-Powered-Technical-Interview-Train</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685099"/>
          </a:xfrm>
          <a:prstGeom prst="rect">
            <a:avLst/>
          </a:prstGeom>
          <a:noFill/>
          <a:ln>
            <a:noFill/>
          </a:ln>
        </p:spPr>
        <p:txBody>
          <a:bodyPr spcFirstLastPara="1" wrap="square" lIns="0" tIns="0" rIns="0" bIns="0" anchor="t" anchorCtr="0">
            <a:noAutofit/>
          </a:bodyPr>
          <a:lstStyle/>
          <a:p>
            <a:r>
              <a:rPr lang="en-IN" sz="2000" b="1" dirty="0"/>
              <a:t>1. Advanced Code Execution &amp; Real-Time IDE Integration –</a:t>
            </a:r>
            <a:r>
              <a:rPr lang="en-IN" sz="2000" dirty="0"/>
              <a:t> The system can be integrated with online code compilers and integrated development environments (IDEs) to allow candidates to write, execute, and test code live during technical mock interviews. This will enable the AI Interview Trainer to provide instant syntax analysis, code optimization tips, and logical evaluations based on actual code performance.</a:t>
            </a:r>
          </a:p>
          <a:p>
            <a:r>
              <a:rPr lang="en-IN" sz="2000" b="1" dirty="0"/>
              <a:t>2. Voice-Enabled Assistant &amp; Multi-Language Support –</a:t>
            </a:r>
            <a:r>
              <a:rPr lang="en-IN" sz="2000" dirty="0"/>
              <a:t> Enhancing the system with a voice-enabled conversational assistant and support for multiple languages will improve accessibility. Candidates can practice verbal communication and interact naturally in their preferred language, making the platform more inclusive and effective for global tech aspirants with varied linguistic backgrounds.</a:t>
            </a: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E8A35557-55BF-8ED0-703E-45FA963EA287}"/>
              </a:ext>
            </a:extLst>
          </p:cNvPr>
          <p:cNvPicPr>
            <a:picLocks noChangeAspect="1"/>
          </p:cNvPicPr>
          <p:nvPr/>
        </p:nvPicPr>
        <p:blipFill>
          <a:blip r:embed="rId2"/>
          <a:stretch>
            <a:fillRect/>
          </a:stretch>
        </p:blipFill>
        <p:spPr>
          <a:xfrm>
            <a:off x="1928976" y="1460937"/>
            <a:ext cx="8989946" cy="4970967"/>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3FFB14B3-8184-BCFF-940F-B482BAFB8478}"/>
              </a:ext>
            </a:extLst>
          </p:cNvPr>
          <p:cNvPicPr>
            <a:picLocks noChangeAspect="1"/>
          </p:cNvPicPr>
          <p:nvPr/>
        </p:nvPicPr>
        <p:blipFill>
          <a:blip r:embed="rId2"/>
          <a:stretch>
            <a:fillRect/>
          </a:stretch>
        </p:blipFill>
        <p:spPr>
          <a:xfrm>
            <a:off x="1433694" y="1313792"/>
            <a:ext cx="8686983" cy="523940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1493</Words>
  <Application>Microsoft Office PowerPoint</Application>
  <PresentationFormat>Widescreen</PresentationFormat>
  <Paragraphs>115</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RUBADHARSINI S</cp:lastModifiedBy>
  <cp:revision>19</cp:revision>
  <dcterms:created xsi:type="dcterms:W3CDTF">2025-07-08T05:06:56Z</dcterms:created>
  <dcterms:modified xsi:type="dcterms:W3CDTF">2026-09-10T16:38:16Z</dcterms:modified>
</cp:coreProperties>
</file>